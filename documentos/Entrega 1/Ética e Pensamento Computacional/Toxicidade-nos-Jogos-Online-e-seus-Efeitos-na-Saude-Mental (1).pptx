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Sora Medium"/>
      <p:regular r:id="rId201315"/>
    </p:embeddedFont>
    <p:embeddedFont>
      <p:font typeface="Sora"/>
      <p:regular r:id="rId201316"/>
    </p:embeddedFont>
    <p:embeddedFont>
      <p:font typeface="Sora SemiBold"/>
      <p:regular r:id="rId201317"/>
    </p:embeddedFont>
    <p:embeddedFont>
      <p:font typeface="Sora Bold"/>
      <p:regular r:id="rId201318"/>
    </p:embeddedFont>
    <p:embeddedFont>
      <p:font typeface="Spline Sans Medium"/>
      <p:regular r:id="rId201319"/>
    </p:embeddedFont>
    <p:embeddedFont>
      <p:font typeface="Spline Sans Bold"/>
      <p:regular r:id="rId201320"/>
    </p:embeddedFont>
    <p:embeddedFont>
      <p:font typeface="Spline Sans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jpeg"/><Relationship Id="rId8" Type="http://schemas.openxmlformats.org/officeDocument/2006/relationships/image" Target="../media/image-1-1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image" Target="../media/image-9-1.png"/><Relationship Id="rId6" Type="http://schemas.openxmlformats.org/officeDocument/2006/relationships/image" Target="../media/image-9-2.png"/><Relationship Id="rId7" Type="http://schemas.openxmlformats.org/officeDocument/2006/relationships/image" Target="../media/image-9-1.png"/><Relationship Id="rId8" Type="http://schemas.openxmlformats.org/officeDocument/2006/relationships/image" Target="../media/image-9-2.png"/><Relationship Id="rId9" Type="http://schemas.openxmlformats.org/officeDocument/2006/relationships/image" Target="../media/image-1-1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-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794742"/>
            <a:ext cx="613424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FECAP · TRABALHO DE CONCLUSÃO DE CURSO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0383" y="1062577"/>
            <a:ext cx="7915672" cy="173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Toxicidade nos Jogos</a:t>
            </a:r>
            <a:endParaRPr lang="en-US" sz="43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Online e seus Efeitos na</a:t>
            </a:r>
            <a:endParaRPr lang="en-US" sz="43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Saúde Mental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60383" y="2981523"/>
            <a:ext cx="8540239" cy="66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Uma análise dos impactos psicológicos e estratégias de mitigação no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ecossistema digital.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0383" y="5671641"/>
            <a:ext cx="73708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Agatha Oliveira Santos · Matheus Rodrigues Cabrera · Rafael Morais Rocha · Samuel Batista Pires (FECAP)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99070"/>
            <a:ext cx="690049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CONTEXTO · CONVIVÊNCIA DIGITAL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760174"/>
            <a:ext cx="7760895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Jogos online viraram ambiente de</a:t>
            </a:r>
            <a:endParaRPr lang="en-US" sz="3000" dirty="0"/>
          </a:p>
          <a:p>
            <a:pPr algn="l" indent="0" marL="0">
              <a:lnSpc>
                <a:spcPct val="91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convivência diária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764705"/>
            <a:ext cx="690049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Medium" pitchFamily="34" charset="0"/>
                <a:ea typeface="Spline Sans Medium" pitchFamily="34" charset="-122"/>
                <a:cs typeface="Spline Sans Medium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066925"/>
            <a:ext cx="7162621" cy="190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198858"/>
            <a:ext cx="8165300" cy="295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Comunidades em expansão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2654657"/>
            <a:ext cx="7555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Jogos online conectam pessoas em comunidades que persistem entre as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partidas.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3518991"/>
            <a:ext cx="9155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Medium" pitchFamily="34" charset="0"/>
                <a:ea typeface="Spline Sans Medium" pitchFamily="34" charset="-122"/>
                <a:cs typeface="Spline Sans Medium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85" y="3829050"/>
            <a:ext cx="7162621" cy="190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3951458"/>
            <a:ext cx="8165300" cy="295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Socialização cotidiana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4407257"/>
            <a:ext cx="7555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 entretenimento também se torna espaço de amizade, comunicação e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pertencimento.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5271591"/>
            <a:ext cx="9155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E8FF"/>
                </a:solidFill>
                <a:latin typeface="Spline Sans Medium" pitchFamily="34" charset="0"/>
                <a:ea typeface="Spline Sans Medium" pitchFamily="34" charset="-122"/>
                <a:cs typeface="Spline Sans Medium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5" y="5581650"/>
            <a:ext cx="7162621" cy="190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5688112"/>
            <a:ext cx="816530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Exposição recorrente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585" y="6150570"/>
            <a:ext cx="81653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Mais tempo de convívio amplia as oportunidades de cooperação e de conflito.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0852" y="0"/>
            <a:ext cx="4075011" cy="691515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02034"/>
            <a:ext cx="10439833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DEFINIÇÃO · FORMAS DE AGRESSÃO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676513"/>
            <a:ext cx="9830249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problema: o que é conduta tóxica?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99170"/>
            <a:ext cx="115821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Comportamentos que hostilizam, intimidam ou prejudicam outros participantes e deterioram a convivência.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762125"/>
            <a:ext cx="5333867" cy="2238375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6" name="Shape 4"/>
          <p:cNvSpPr/>
          <p:nvPr/>
        </p:nvSpPr>
        <p:spPr>
          <a:xfrm>
            <a:off x="614248" y="1762125"/>
            <a:ext cx="532434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7" name="Shape 5"/>
          <p:cNvSpPr/>
          <p:nvPr/>
        </p:nvSpPr>
        <p:spPr>
          <a:xfrm>
            <a:off x="5933927" y="1766788"/>
            <a:ext cx="9525" cy="222885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8" name="Shape 6"/>
          <p:cNvSpPr/>
          <p:nvPr/>
        </p:nvSpPr>
        <p:spPr>
          <a:xfrm>
            <a:off x="614248" y="3990975"/>
            <a:ext cx="532434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1766788"/>
            <a:ext cx="9525" cy="222885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0" name="Shape 8"/>
          <p:cNvSpPr/>
          <p:nvPr/>
        </p:nvSpPr>
        <p:spPr>
          <a:xfrm>
            <a:off x="847704" y="2000250"/>
            <a:ext cx="409565" cy="400050"/>
          </a:xfrm>
          <a:prstGeom prst="rect">
            <a:avLst/>
          </a:prstGeom>
          <a:solidFill>
            <a:srgbClr val="C9C9D4"/>
          </a:solidFill>
          <a:ln/>
        </p:spPr>
      </p:sp>
      <p:sp>
        <p:nvSpPr>
          <p:cNvPr id="11" name="Text 9"/>
          <p:cNvSpPr/>
          <p:nvPr/>
        </p:nvSpPr>
        <p:spPr>
          <a:xfrm>
            <a:off x="847704" y="2546052"/>
            <a:ext cx="41818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Assédio verbal e cyberbullying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7704" y="3033216"/>
            <a:ext cx="62775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Insultos, humilhações e perseguição dirigida a uma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7704" y="3328491"/>
            <a:ext cx="14674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pessoa.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244" y="1762125"/>
            <a:ext cx="5333867" cy="2238375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52907" y="1762125"/>
            <a:ext cx="532434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72585" y="1766788"/>
            <a:ext cx="9525" cy="222885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2907" y="3990975"/>
            <a:ext cx="532434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8244" y="1766788"/>
            <a:ext cx="9525" cy="222885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86363" y="2000250"/>
            <a:ext cx="409565" cy="400050"/>
          </a:xfrm>
          <a:prstGeom prst="rect">
            <a:avLst/>
          </a:prstGeom>
          <a:solidFill>
            <a:srgbClr val="C9C9D4"/>
          </a:solidFill>
          <a:ln/>
        </p:spPr>
      </p:sp>
      <p:sp>
        <p:nvSpPr>
          <p:cNvPr id="20" name="Text 18"/>
          <p:cNvSpPr/>
          <p:nvPr/>
        </p:nvSpPr>
        <p:spPr>
          <a:xfrm>
            <a:off x="6486363" y="2546052"/>
            <a:ext cx="10469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Griefing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86363" y="3033216"/>
            <a:ext cx="53926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Sabotagem deliberada da experiência ou do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6363" y="3328491"/>
            <a:ext cx="40182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progresso de outros jogadores.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585" y="4305300"/>
            <a:ext cx="5333867" cy="22479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4248" y="4305300"/>
            <a:ext cx="532434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5" name="Shape 23"/>
          <p:cNvSpPr/>
          <p:nvPr/>
        </p:nvSpPr>
        <p:spPr>
          <a:xfrm>
            <a:off x="5933927" y="4309963"/>
            <a:ext cx="9525" cy="223837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248" y="6543675"/>
            <a:ext cx="532434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5" y="4309963"/>
            <a:ext cx="9525" cy="223837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8" name="Shape 26"/>
          <p:cNvSpPr/>
          <p:nvPr/>
        </p:nvSpPr>
        <p:spPr>
          <a:xfrm>
            <a:off x="847704" y="4543425"/>
            <a:ext cx="409565" cy="409575"/>
          </a:xfrm>
          <a:prstGeom prst="rect">
            <a:avLst/>
          </a:prstGeom>
          <a:solidFill>
            <a:srgbClr val="C9C9D4"/>
          </a:solidFill>
          <a:ln/>
        </p:spPr>
      </p:sp>
      <p:sp>
        <p:nvSpPr>
          <p:cNvPr id="29" name="Text 27"/>
          <p:cNvSpPr/>
          <p:nvPr/>
        </p:nvSpPr>
        <p:spPr>
          <a:xfrm>
            <a:off x="847704" y="5098752"/>
            <a:ext cx="10990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Flaming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47704" y="5585916"/>
            <a:ext cx="623584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Trocas agressivas e provocativas que intensificam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7704" y="5881191"/>
            <a:ext cx="16026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conflitos.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48244" y="4305300"/>
            <a:ext cx="5333867" cy="22479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33" name="Shape 31"/>
          <p:cNvSpPr/>
          <p:nvPr/>
        </p:nvSpPr>
        <p:spPr>
          <a:xfrm>
            <a:off x="6252907" y="4305300"/>
            <a:ext cx="532434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34" name="Shape 32"/>
          <p:cNvSpPr/>
          <p:nvPr/>
        </p:nvSpPr>
        <p:spPr>
          <a:xfrm>
            <a:off x="11572585" y="4309963"/>
            <a:ext cx="9525" cy="223837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35" name="Shape 33"/>
          <p:cNvSpPr/>
          <p:nvPr/>
        </p:nvSpPr>
        <p:spPr>
          <a:xfrm>
            <a:off x="6252907" y="6543675"/>
            <a:ext cx="532434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8244" y="4309963"/>
            <a:ext cx="9525" cy="223837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37" name="Shape 35"/>
          <p:cNvSpPr/>
          <p:nvPr/>
        </p:nvSpPr>
        <p:spPr>
          <a:xfrm>
            <a:off x="6486363" y="4543425"/>
            <a:ext cx="409565" cy="409575"/>
          </a:xfrm>
          <a:prstGeom prst="rect">
            <a:avLst/>
          </a:prstGeom>
          <a:solidFill>
            <a:srgbClr val="C9C9D4"/>
          </a:solidFill>
          <a:ln/>
        </p:spPr>
      </p:sp>
      <p:sp>
        <p:nvSpPr>
          <p:cNvPr id="38" name="Text 36"/>
          <p:cNvSpPr/>
          <p:nvPr/>
        </p:nvSpPr>
        <p:spPr>
          <a:xfrm>
            <a:off x="6486363" y="5098752"/>
            <a:ext cx="33493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Discriminação estrutural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486363" y="5585916"/>
            <a:ext cx="57053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Racismo, misoginia e homofobia reproduzidos nas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86363" y="5881191"/>
            <a:ext cx="18213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interações.</a:t>
            </a:r>
            <a:endParaRPr lang="en-US" sz="16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80" y="0"/>
            <a:ext cx="407173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9291" y="146645"/>
            <a:ext cx="766584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MECANISMOS · CONTEXTO COMPETITIVO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419291" y="411559"/>
            <a:ext cx="77151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Anonimato e competição alimentam a</a:t>
            </a:r>
            <a:endParaRPr lang="en-US" sz="30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toxicidade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419489" y="1428750"/>
            <a:ext cx="7162621" cy="1628775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6" name="Shape 3"/>
          <p:cNvSpPr/>
          <p:nvPr/>
        </p:nvSpPr>
        <p:spPr>
          <a:xfrm>
            <a:off x="4419489" y="1428750"/>
            <a:ext cx="114297" cy="1628775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7" name="Text 4"/>
          <p:cNvSpPr/>
          <p:nvPr/>
        </p:nvSpPr>
        <p:spPr>
          <a:xfrm>
            <a:off x="4762182" y="1633558"/>
            <a:ext cx="737226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Pressão por resultado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62182" y="2118578"/>
            <a:ext cx="737226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Em eSports e partidas casuais, ranking e derrota podem desencadear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frustração e culpabilização.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19489" y="3362325"/>
            <a:ext cx="7162621" cy="16383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0" name="Shape 7"/>
          <p:cNvSpPr/>
          <p:nvPr/>
        </p:nvSpPr>
        <p:spPr>
          <a:xfrm>
            <a:off x="4419489" y="3362325"/>
            <a:ext cx="114297" cy="16383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1" name="Text 8"/>
          <p:cNvSpPr/>
          <p:nvPr/>
        </p:nvSpPr>
        <p:spPr>
          <a:xfrm>
            <a:off x="4762182" y="3567133"/>
            <a:ext cx="737226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Desinibição online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762182" y="4059793"/>
            <a:ext cx="737226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 anonimato pode reduzir a percepção de responsabilidade pelas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próprias ações.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19489" y="5305425"/>
            <a:ext cx="7162621" cy="1552575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4" name="Shape 11"/>
          <p:cNvSpPr/>
          <p:nvPr/>
        </p:nvSpPr>
        <p:spPr>
          <a:xfrm>
            <a:off x="4424153" y="5305425"/>
            <a:ext cx="7153096" cy="9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2"/>
          <p:cNvSpPr/>
          <p:nvPr/>
        </p:nvSpPr>
        <p:spPr>
          <a:xfrm>
            <a:off x="11572585" y="5310088"/>
            <a:ext cx="9525" cy="15430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3"/>
          <p:cNvSpPr/>
          <p:nvPr/>
        </p:nvSpPr>
        <p:spPr>
          <a:xfrm>
            <a:off x="4424153" y="6848475"/>
            <a:ext cx="7153096" cy="9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4"/>
          <p:cNvSpPr/>
          <p:nvPr/>
        </p:nvSpPr>
        <p:spPr>
          <a:xfrm>
            <a:off x="4419489" y="5310088"/>
            <a:ext cx="9525" cy="15430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657410" y="5519758"/>
            <a:ext cx="747703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Normalização da agressão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657410" y="6004778"/>
            <a:ext cx="747703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Dinâmicas recorrentes e tolerância coletiva favorecem a repetição de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condutas tóxicas.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3845"/>
            <a:ext cx="94923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EVIDÊNCIAS · PESQUISAS NOS ESTADOS UNIDOS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7748"/>
            <a:ext cx="110239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toxicidade já é a norma para muitos jogadores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85900"/>
            <a:ext cx="7114997" cy="47625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5" name="Shape 3"/>
          <p:cNvSpPr/>
          <p:nvPr/>
        </p:nvSpPr>
        <p:spPr>
          <a:xfrm>
            <a:off x="619110" y="1495425"/>
            <a:ext cx="7095947" cy="47434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7572186" y="6048375"/>
            <a:ext cx="9525" cy="1143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7" name="Shape 5"/>
          <p:cNvSpPr/>
          <p:nvPr/>
        </p:nvSpPr>
        <p:spPr>
          <a:xfrm>
            <a:off x="7524562" y="6096000"/>
            <a:ext cx="114297" cy="9525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8" name="Shape 6"/>
          <p:cNvSpPr/>
          <p:nvPr/>
        </p:nvSpPr>
        <p:spPr>
          <a:xfrm>
            <a:off x="742931" y="6048375"/>
            <a:ext cx="9525" cy="1143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9" name="Shape 7"/>
          <p:cNvSpPr/>
          <p:nvPr/>
        </p:nvSpPr>
        <p:spPr>
          <a:xfrm>
            <a:off x="695308" y="6096000"/>
            <a:ext cx="114297" cy="9525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0" name="Shape 8"/>
          <p:cNvSpPr/>
          <p:nvPr/>
        </p:nvSpPr>
        <p:spPr>
          <a:xfrm>
            <a:off x="7572186" y="1571625"/>
            <a:ext cx="9525" cy="1143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1" name="Shape 9"/>
          <p:cNvSpPr/>
          <p:nvPr/>
        </p:nvSpPr>
        <p:spPr>
          <a:xfrm>
            <a:off x="7524562" y="1619250"/>
            <a:ext cx="114297" cy="9525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2" name="Shape 10"/>
          <p:cNvSpPr/>
          <p:nvPr/>
        </p:nvSpPr>
        <p:spPr>
          <a:xfrm>
            <a:off x="742931" y="1571625"/>
            <a:ext cx="9525" cy="1143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3" name="Shape 11"/>
          <p:cNvSpPr/>
          <p:nvPr/>
        </p:nvSpPr>
        <p:spPr>
          <a:xfrm>
            <a:off x="695308" y="1619250"/>
            <a:ext cx="114297" cy="9525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4248" y="1485900"/>
            <a:ext cx="710547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15057" y="1490563"/>
            <a:ext cx="9525" cy="475297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248" y="6238875"/>
            <a:ext cx="710547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1490563"/>
            <a:ext cx="9525" cy="475297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8" name="Text 16"/>
          <p:cNvSpPr/>
          <p:nvPr/>
        </p:nvSpPr>
        <p:spPr>
          <a:xfrm>
            <a:off x="847704" y="1735138"/>
            <a:ext cx="342554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Assédio em jogos online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867449" y="4693245"/>
            <a:ext cx="756425" cy="240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24876" y="4693245"/>
            <a:ext cx="910508" cy="240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6475" y="4693245"/>
            <a:ext cx="910508" cy="240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40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48074" y="4693245"/>
            <a:ext cx="910508" cy="240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60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8086" y="4693245"/>
            <a:ext cx="910508" cy="240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80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7667" y="4993680"/>
            <a:ext cx="2142774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Percentual (%)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3041" y="2675434"/>
            <a:ext cx="293342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Adultos 18-45 (2021)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6643" y="3459956"/>
            <a:ext cx="293342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Jovens 13-17 (2021)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9239" y="4244578"/>
            <a:ext cx="293342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Jovens 10-17 (2023)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7704" y="2092920"/>
            <a:ext cx="1239211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Grupo</a:t>
            </a:r>
            <a:endParaRPr lang="en-US" sz="16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979" y="2538313"/>
            <a:ext cx="3788871" cy="392212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979" y="3322737"/>
            <a:ext cx="2739064" cy="392212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979" y="4107359"/>
            <a:ext cx="3423656" cy="392212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227" y="2622252"/>
            <a:ext cx="225419" cy="22542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77632" y="2654161"/>
            <a:ext cx="7737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83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8634" y="3406874"/>
            <a:ext cx="225419" cy="22542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426237" y="3438684"/>
            <a:ext cx="7737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60</a:t>
            </a:r>
            <a:endParaRPr lang="en-US" sz="10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124" y="4191298"/>
            <a:ext cx="212918" cy="2254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123727" y="4223306"/>
            <a:ext cx="7737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75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847704" y="5274667"/>
            <a:ext cx="745471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ADL, 2021 e 2023. Faixas etárias e levantamentos distintos; não representam uma série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temporal equivalente.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254595" y="1736427"/>
            <a:ext cx="15412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E67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83 milhões</a:t>
            </a:r>
            <a:endParaRPr lang="en-US" sz="2000" dirty="0"/>
          </a:p>
        </p:txBody>
      </p:sp>
      <p:sp>
        <p:nvSpPr>
          <p:cNvPr id="40" name="Text 32"/>
          <p:cNvSpPr/>
          <p:nvPr/>
        </p:nvSpPr>
        <p:spPr>
          <a:xfrm>
            <a:off x="8254595" y="2204879"/>
            <a:ext cx="335668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 110 milhões de jogadores online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expostos a ódio e assédio em seis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meses.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254595" y="3184227"/>
            <a:ext cx="23346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71% dos adultos</a:t>
            </a:r>
            <a:endParaRPr lang="en-US" sz="2000" dirty="0"/>
          </a:p>
        </p:txBody>
      </p:sp>
      <p:sp>
        <p:nvSpPr>
          <p:cNvPr id="42" name="Text 34"/>
          <p:cNvSpPr/>
          <p:nvPr/>
        </p:nvSpPr>
        <p:spPr>
          <a:xfrm>
            <a:off x="8254595" y="3652679"/>
            <a:ext cx="281952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sofreram abuso severo, como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ameaças e perseguição.</a:t>
            </a:r>
            <a:endParaRPr lang="en-US" sz="14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968" y="4342705"/>
            <a:ext cx="3095548" cy="128706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254595" y="5819180"/>
            <a:ext cx="33066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Fontes: ADL, 2023; ADL, 2021.</a:t>
            </a:r>
            <a:endParaRPr lang="en-US" sz="125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3845"/>
            <a:ext cx="107121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MÉTODO · PESQUISA ONLINE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7748"/>
            <a:ext cx="111185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Método: como a pesquisa foi feita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587500"/>
            <a:ext cx="3454314" cy="1905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587500"/>
            <a:ext cx="3454314" cy="381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1782191"/>
            <a:ext cx="12128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E67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2265643"/>
            <a:ext cx="29907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Pesquisa online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2669222"/>
            <a:ext cx="299077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sobre hábitos dos jogadores e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presença de toxicidade.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1" y="1587500"/>
            <a:ext cx="3454314" cy="1905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0" name="Shape 8"/>
          <p:cNvSpPr/>
          <p:nvPr/>
        </p:nvSpPr>
        <p:spPr>
          <a:xfrm>
            <a:off x="4368691" y="1587500"/>
            <a:ext cx="3454314" cy="381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85" y="1782191"/>
            <a:ext cx="12128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E67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7285" y="2265643"/>
            <a:ext cx="29907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Consentimento livre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7285" y="2669222"/>
            <a:ext cx="299077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Aplicação mediante consentimento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livre e esclarecido.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1587500"/>
            <a:ext cx="3454314" cy="1905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7797" y="1587500"/>
            <a:ext cx="3454314" cy="381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56391" y="1782191"/>
            <a:ext cx="12128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E67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56391" y="2265643"/>
            <a:ext cx="29907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Análise estatística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56391" y="2669222"/>
            <a:ext cx="299077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Dados analisados no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software SPSS 21.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585" y="3746500"/>
            <a:ext cx="10972526" cy="1905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3746500"/>
            <a:ext cx="10972526" cy="381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1" name="Text 19"/>
          <p:cNvSpPr/>
          <p:nvPr/>
        </p:nvSpPr>
        <p:spPr>
          <a:xfrm>
            <a:off x="838179" y="3911600"/>
            <a:ext cx="43623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CONTEXTO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8179" y="4241800"/>
            <a:ext cx="4895728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Toxicidade = ofensas verbais,</a:t>
            </a:r>
            <a:endParaRPr lang="en-US" sz="18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trapaças, assédio e sabotagem.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49841" y="4241800"/>
            <a:ext cx="4895728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Catalisadores: anonimato digital e</a:t>
            </a:r>
            <a:endParaRPr lang="en-US" sz="18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alta competitividade, sobretudo</a:t>
            </a:r>
            <a:endParaRPr lang="en-US" sz="18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em MOBA e FPS.</a:t>
            </a:r>
            <a:endParaRPr 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3845"/>
            <a:ext cx="107121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RESULTADOS · PESQUISA FECAP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7748"/>
            <a:ext cx="111185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toxicidade é regra, não exceção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85900"/>
            <a:ext cx="7111822" cy="47625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1778000"/>
            <a:ext cx="715627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Competem contra outras pessoas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3578" y="2209800"/>
            <a:ext cx="6095848" cy="3810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7" name="Shape 5"/>
          <p:cNvSpPr/>
          <p:nvPr/>
        </p:nvSpPr>
        <p:spPr>
          <a:xfrm>
            <a:off x="863578" y="2209800"/>
            <a:ext cx="5303308" cy="3810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8" name="Text 6"/>
          <p:cNvSpPr/>
          <p:nvPr/>
        </p:nvSpPr>
        <p:spPr>
          <a:xfrm>
            <a:off x="5506503" y="2220278"/>
            <a:ext cx="57783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87%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578" y="3175000"/>
            <a:ext cx="715627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Envolvimento em comportamento tóxico (último ano)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3578" y="3606800"/>
            <a:ext cx="6095848" cy="3810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1" name="Shape 9"/>
          <p:cNvSpPr/>
          <p:nvPr/>
        </p:nvSpPr>
        <p:spPr>
          <a:xfrm>
            <a:off x="863578" y="3606800"/>
            <a:ext cx="4023220" cy="3810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2" name="Text 10"/>
          <p:cNvSpPr/>
          <p:nvPr/>
        </p:nvSpPr>
        <p:spPr>
          <a:xfrm>
            <a:off x="4988396" y="3617278"/>
            <a:ext cx="57783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66%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578" y="4572000"/>
            <a:ext cx="715627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Vítimas diretas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3578" y="5003800"/>
            <a:ext cx="6095848" cy="3810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3578" y="5003800"/>
            <a:ext cx="2621195" cy="381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3586370" y="5014277"/>
            <a:ext cx="57783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4793" y="1734764"/>
            <a:ext cx="327016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E67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87%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54793" y="2186622"/>
            <a:ext cx="32701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competem contra outras pessoas,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geralmente desconhecidas.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54793" y="3182564"/>
            <a:ext cx="327016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DE8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66% · 43%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54793" y="3634422"/>
            <a:ext cx="327016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relataram envolvimento pessoal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no último ano · foram vítimas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diretas.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54793" y="4604964"/>
            <a:ext cx="327016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4,90×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54793" y="5056822"/>
            <a:ext cx="327016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mais probabilidade de homens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vivenciarem comportamentos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tóxicos regularmente do que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mulheres.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3845"/>
            <a:ext cx="107121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CONSEQUÊNCIAS · CUSTO EMOCIONAL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6419"/>
            <a:ext cx="1111857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Irritação, frustração e retraimento: o custo emocional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585" y="1485900"/>
            <a:ext cx="7111822" cy="47625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1676400"/>
            <a:ext cx="71562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Irritação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3578" y="2032000"/>
            <a:ext cx="5333867" cy="3048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7" name="Shape 5"/>
          <p:cNvSpPr/>
          <p:nvPr/>
        </p:nvSpPr>
        <p:spPr>
          <a:xfrm>
            <a:off x="863578" y="2032000"/>
            <a:ext cx="4444889" cy="3048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8" name="Text 6"/>
          <p:cNvSpPr/>
          <p:nvPr/>
        </p:nvSpPr>
        <p:spPr>
          <a:xfrm>
            <a:off x="5410065" y="2034477"/>
            <a:ext cx="7048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3578" y="2565400"/>
            <a:ext cx="71562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Insatisfação com o próprio desempenho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3578" y="2921000"/>
            <a:ext cx="5333867" cy="3048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1" name="Shape 9"/>
          <p:cNvSpPr/>
          <p:nvPr/>
        </p:nvSpPr>
        <p:spPr>
          <a:xfrm>
            <a:off x="863578" y="2921000"/>
            <a:ext cx="3733707" cy="3048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98882" y="2923477"/>
            <a:ext cx="7048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21%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3578" y="3454400"/>
            <a:ext cx="71562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Sentimentos de depressão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3578" y="3810000"/>
            <a:ext cx="5333867" cy="3048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3578" y="3810000"/>
            <a:ext cx="2666933" cy="3048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32109" y="3812477"/>
            <a:ext cx="7048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3578" y="4343400"/>
            <a:ext cx="71562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Cessam a comunicação durante a partida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3578" y="4699000"/>
            <a:ext cx="5333867" cy="3048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578" y="4699000"/>
            <a:ext cx="5156071" cy="3048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1247" y="4701477"/>
            <a:ext cx="7048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29%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3578" y="5232400"/>
            <a:ext cx="71562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Abandonam o jogo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3578" y="5588000"/>
            <a:ext cx="5333867" cy="3048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3" name="Shape 21"/>
          <p:cNvSpPr/>
          <p:nvPr/>
        </p:nvSpPr>
        <p:spPr>
          <a:xfrm>
            <a:off x="863578" y="5588000"/>
            <a:ext cx="1600160" cy="3048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65336" y="5590477"/>
            <a:ext cx="7048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9C9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27797" y="1485900"/>
            <a:ext cx="3454314" cy="47625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7797" y="1485900"/>
            <a:ext cx="3454314" cy="381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7" name="Text 25"/>
          <p:cNvSpPr/>
          <p:nvPr/>
        </p:nvSpPr>
        <p:spPr>
          <a:xfrm>
            <a:off x="8356391" y="1778000"/>
            <a:ext cx="354956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DESTAQUE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56391" y="2189443"/>
            <a:ext cx="29399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E67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Vitimização repetida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356391" y="2720340"/>
            <a:ext cx="2939976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se associa a mais sintomas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 transtorno de jogos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online, ansiedade e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ruminação da raiva.</a:t>
            </a:r>
            <a:endParaRPr lang="en-US" sz="16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3845"/>
            <a:ext cx="88518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CONSEQUÊNCIAS · INDIVÍDUO E COMUNIDADE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7748"/>
            <a:ext cx="1052019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Impactos na saúde mental e no desempenho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773" y="1500088"/>
            <a:ext cx="5305292" cy="20002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85" y="1473200"/>
            <a:ext cx="5359266" cy="20542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6753" y="1747242"/>
            <a:ext cx="214852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EMOCIONAL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866753" y="2031702"/>
            <a:ext cx="40907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Ansiedade e estresse crônico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66753" y="2528391"/>
            <a:ext cx="60901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 exposição recorrente pode manter o jogador 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6753" y="2823666"/>
            <a:ext cx="24356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estado de alerta.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432" y="1500088"/>
            <a:ext cx="5305292" cy="200025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544" y="1473200"/>
            <a:ext cx="5359266" cy="20542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5412" y="1747242"/>
            <a:ext cx="156364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SOCIAL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505412" y="2031702"/>
            <a:ext cx="38957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Autoestima e pertencimento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6505412" y="2528391"/>
            <a:ext cx="56862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Humilhação e exclusão podem favorecer isolamento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505412" y="2823666"/>
            <a:ext cx="21233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 retraimento.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73" y="3833713"/>
            <a:ext cx="5305292" cy="200025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85" y="3806825"/>
            <a:ext cx="5359266" cy="205422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6753" y="4080867"/>
            <a:ext cx="205109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COGNITIVO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866753" y="4374852"/>
            <a:ext cx="32582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Atenção e desempenho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866753" y="4862016"/>
            <a:ext cx="47887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 desgaste emocional pode prejudicar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866753" y="5157291"/>
            <a:ext cx="45284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concentração e tomada de decisão.</a:t>
            </a:r>
            <a:endParaRPr lang="en-US" sz="16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432" y="3833713"/>
            <a:ext cx="5305292" cy="200025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5544" y="3806825"/>
            <a:ext cx="5359266" cy="205422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505412" y="4080867"/>
            <a:ext cx="249509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PARTICIPAÇÃO</a:t>
            </a:r>
            <a:endParaRPr lang="en-US" sz="1150" dirty="0"/>
          </a:p>
        </p:txBody>
      </p:sp>
      <p:sp>
        <p:nvSpPr>
          <p:cNvPr id="25" name="Text 15"/>
          <p:cNvSpPr/>
          <p:nvPr/>
        </p:nvSpPr>
        <p:spPr>
          <a:xfrm>
            <a:off x="6505412" y="4374852"/>
            <a:ext cx="37265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Abandono de comunidades</a:t>
            </a:r>
            <a:endParaRPr lang="en-US" sz="2000" dirty="0"/>
          </a:p>
        </p:txBody>
      </p:sp>
      <p:sp>
        <p:nvSpPr>
          <p:cNvPr id="26" name="Text 16"/>
          <p:cNvSpPr/>
          <p:nvPr/>
        </p:nvSpPr>
        <p:spPr>
          <a:xfrm>
            <a:off x="6505412" y="4862016"/>
            <a:ext cx="56862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Afastar-se dos jogos pode se tornar uma estratégia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6505412" y="5157291"/>
            <a:ext cx="49552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 proteção, com efeitos sobre o churn.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609585" y="6047780"/>
            <a:ext cx="798006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E8E9E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Os efeitos variam conforme frequência, intensidade da exposição e recursos de apoio.</a:t>
            </a:r>
            <a:endParaRPr lang="en-US" sz="12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3845"/>
            <a:ext cx="90031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RESPOSTA ATUAL · LIMITES OPERACIONAIS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7748"/>
            <a:ext cx="1038883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moderação atual não dá conta do problema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85900"/>
            <a:ext cx="10972526" cy="4067175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5" name="Shape 3"/>
          <p:cNvSpPr/>
          <p:nvPr/>
        </p:nvSpPr>
        <p:spPr>
          <a:xfrm>
            <a:off x="619110" y="1495425"/>
            <a:ext cx="10953476" cy="40481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29714" y="5353050"/>
            <a:ext cx="9525" cy="1143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7" name="Shape 5"/>
          <p:cNvSpPr/>
          <p:nvPr/>
        </p:nvSpPr>
        <p:spPr>
          <a:xfrm>
            <a:off x="11382090" y="5410200"/>
            <a:ext cx="114297" cy="9525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8" name="Shape 6"/>
          <p:cNvSpPr/>
          <p:nvPr/>
        </p:nvSpPr>
        <p:spPr>
          <a:xfrm>
            <a:off x="742931" y="5353050"/>
            <a:ext cx="9525" cy="1143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9" name="Shape 7"/>
          <p:cNvSpPr/>
          <p:nvPr/>
        </p:nvSpPr>
        <p:spPr>
          <a:xfrm>
            <a:off x="695308" y="5410200"/>
            <a:ext cx="114297" cy="9525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0" name="Shape 8"/>
          <p:cNvSpPr/>
          <p:nvPr/>
        </p:nvSpPr>
        <p:spPr>
          <a:xfrm>
            <a:off x="11429714" y="1571625"/>
            <a:ext cx="9525" cy="1143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1" name="Shape 9"/>
          <p:cNvSpPr/>
          <p:nvPr/>
        </p:nvSpPr>
        <p:spPr>
          <a:xfrm>
            <a:off x="11382090" y="1619250"/>
            <a:ext cx="114297" cy="9525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2" name="Shape 10"/>
          <p:cNvSpPr/>
          <p:nvPr/>
        </p:nvSpPr>
        <p:spPr>
          <a:xfrm>
            <a:off x="742931" y="1571625"/>
            <a:ext cx="9525" cy="114300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3" name="Shape 11"/>
          <p:cNvSpPr/>
          <p:nvPr/>
        </p:nvSpPr>
        <p:spPr>
          <a:xfrm>
            <a:off x="695308" y="1619250"/>
            <a:ext cx="114297" cy="9525"/>
          </a:xfrm>
          <a:prstGeom prst="rect">
            <a:avLst/>
          </a:prstGeom>
          <a:solidFill>
            <a:srgbClr val="8E8E9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4248" y="1485900"/>
            <a:ext cx="10963001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72585" y="1490563"/>
            <a:ext cx="9525" cy="405765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248" y="5543550"/>
            <a:ext cx="10963001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1490563"/>
            <a:ext cx="9525" cy="4057650"/>
          </a:xfrm>
          <a:prstGeom prst="rect">
            <a:avLst/>
          </a:prstGeom>
          <a:solidFill>
            <a:srgbClr val="2A2A38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02" y="2152650"/>
            <a:ext cx="2590735" cy="466725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02" y="2152650"/>
            <a:ext cx="2590735" cy="46186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23902" y="2609850"/>
            <a:ext cx="2590735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1" name="Text 17"/>
          <p:cNvSpPr/>
          <p:nvPr/>
        </p:nvSpPr>
        <p:spPr>
          <a:xfrm>
            <a:off x="1076298" y="2252166"/>
            <a:ext cx="15194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 Medium" pitchFamily="34" charset="0"/>
                <a:ea typeface="Spline Sans Medium" pitchFamily="34" charset="-122"/>
                <a:cs typeface="Spline Sans Medium" pitchFamily="34" charset="-120"/>
              </a:rPr>
              <a:t>Recurso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729" y="2152650"/>
            <a:ext cx="4448064" cy="466725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729" y="2152650"/>
            <a:ext cx="4448064" cy="461863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819729" y="2609850"/>
            <a:ext cx="4448064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5" name="Text 19"/>
          <p:cNvSpPr/>
          <p:nvPr/>
        </p:nvSpPr>
        <p:spPr>
          <a:xfrm>
            <a:off x="6972225" y="2252166"/>
            <a:ext cx="1696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 Medium" pitchFamily="34" charset="0"/>
                <a:ea typeface="Spline Sans Medium" pitchFamily="34" charset="-122"/>
                <a:cs typeface="Spline Sans Medium" pitchFamily="34" charset="-120"/>
              </a:rPr>
              <a:t>Limitação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3514637" y="2152650"/>
            <a:ext cx="3305092" cy="466725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27" name="Shape 21"/>
          <p:cNvSpPr/>
          <p:nvPr/>
        </p:nvSpPr>
        <p:spPr>
          <a:xfrm>
            <a:off x="3514637" y="2609850"/>
            <a:ext cx="330509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28" name="Text 22"/>
          <p:cNvSpPr/>
          <p:nvPr/>
        </p:nvSpPr>
        <p:spPr>
          <a:xfrm>
            <a:off x="3662172" y="2252166"/>
            <a:ext cx="19775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 Medium" pitchFamily="34" charset="0"/>
                <a:ea typeface="Spline Sans Medium" pitchFamily="34" charset="-122"/>
                <a:cs typeface="Spline Sans Medium" pitchFamily="34" charset="-120"/>
              </a:rPr>
              <a:t>Contribuição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23902" y="2619375"/>
            <a:ext cx="2590735" cy="762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30" name="Shape 24"/>
          <p:cNvSpPr/>
          <p:nvPr/>
        </p:nvSpPr>
        <p:spPr>
          <a:xfrm>
            <a:off x="923902" y="3371850"/>
            <a:ext cx="2590735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31" name="Text 25"/>
          <p:cNvSpPr/>
          <p:nvPr/>
        </p:nvSpPr>
        <p:spPr>
          <a:xfrm>
            <a:off x="1076298" y="2718891"/>
            <a:ext cx="26751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Moderação por IA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3514637" y="2619375"/>
            <a:ext cx="3305092" cy="762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33" name="Shape 27"/>
          <p:cNvSpPr/>
          <p:nvPr/>
        </p:nvSpPr>
        <p:spPr>
          <a:xfrm>
            <a:off x="3514637" y="3371850"/>
            <a:ext cx="330509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34" name="Text 28"/>
          <p:cNvSpPr/>
          <p:nvPr/>
        </p:nvSpPr>
        <p:spPr>
          <a:xfrm>
            <a:off x="3662172" y="2718891"/>
            <a:ext cx="36017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Detecta padrões e amplia a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3662172" y="3014166"/>
            <a:ext cx="25605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escala de análise.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6819729" y="2619375"/>
            <a:ext cx="4448064" cy="762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37" name="Shape 31"/>
          <p:cNvSpPr/>
          <p:nvPr/>
        </p:nvSpPr>
        <p:spPr>
          <a:xfrm>
            <a:off x="6819729" y="3371850"/>
            <a:ext cx="4448064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38" name="Text 32"/>
          <p:cNvSpPr/>
          <p:nvPr/>
        </p:nvSpPr>
        <p:spPr>
          <a:xfrm>
            <a:off x="6972225" y="2718891"/>
            <a:ext cx="52194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Falsos positivos e dificuldade de interpretar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6972225" y="3014166"/>
            <a:ext cx="39349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contexto e voz em tempo real.</a:t>
            </a: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923902" y="3381375"/>
            <a:ext cx="2590735" cy="762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41" name="Shape 35"/>
          <p:cNvSpPr/>
          <p:nvPr/>
        </p:nvSpPr>
        <p:spPr>
          <a:xfrm>
            <a:off x="923902" y="4133850"/>
            <a:ext cx="2590735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42" name="Text 36"/>
          <p:cNvSpPr/>
          <p:nvPr/>
        </p:nvSpPr>
        <p:spPr>
          <a:xfrm>
            <a:off x="1076298" y="3480891"/>
            <a:ext cx="27168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Denúncias (reports)</a:t>
            </a:r>
            <a:endParaRPr lang="en-US" sz="1600" dirty="0"/>
          </a:p>
        </p:txBody>
      </p:sp>
      <p:sp>
        <p:nvSpPr>
          <p:cNvPr id="43" name="Shape 37"/>
          <p:cNvSpPr/>
          <p:nvPr/>
        </p:nvSpPr>
        <p:spPr>
          <a:xfrm>
            <a:off x="3514637" y="3381375"/>
            <a:ext cx="3305092" cy="762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44" name="Shape 38"/>
          <p:cNvSpPr/>
          <p:nvPr/>
        </p:nvSpPr>
        <p:spPr>
          <a:xfrm>
            <a:off x="3514637" y="4133850"/>
            <a:ext cx="3305092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45" name="Text 39"/>
          <p:cNvSpPr/>
          <p:nvPr/>
        </p:nvSpPr>
        <p:spPr>
          <a:xfrm>
            <a:off x="3662172" y="3480891"/>
            <a:ext cx="40599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Permitem sinalizar ocorrências.</a:t>
            </a:r>
            <a:endParaRPr lang="en-US" sz="1600" dirty="0"/>
          </a:p>
        </p:txBody>
      </p:sp>
      <p:sp>
        <p:nvSpPr>
          <p:cNvPr id="46" name="Shape 40"/>
          <p:cNvSpPr/>
          <p:nvPr/>
        </p:nvSpPr>
        <p:spPr>
          <a:xfrm>
            <a:off x="6819729" y="3381375"/>
            <a:ext cx="4448064" cy="7620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47" name="Shape 41"/>
          <p:cNvSpPr/>
          <p:nvPr/>
        </p:nvSpPr>
        <p:spPr>
          <a:xfrm>
            <a:off x="6819729" y="4133850"/>
            <a:ext cx="4448064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48" name="Text 42"/>
          <p:cNvSpPr/>
          <p:nvPr/>
        </p:nvSpPr>
        <p:spPr>
          <a:xfrm>
            <a:off x="6972225" y="3464084"/>
            <a:ext cx="478430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Dependem da participação e podem receber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resposta lenta.</a:t>
            </a:r>
            <a:endParaRPr lang="en-US" sz="160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2" y="4143375"/>
            <a:ext cx="2590735" cy="74295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1076298" y="4242891"/>
            <a:ext cx="31540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Sistemas de reputação</a:t>
            </a:r>
            <a:endParaRPr lang="en-US" sz="1600" dirty="0"/>
          </a:p>
        </p:txBody>
      </p:sp>
      <p:sp>
        <p:nvSpPr>
          <p:cNvPr id="51" name="Shape 44"/>
          <p:cNvSpPr/>
          <p:nvPr/>
        </p:nvSpPr>
        <p:spPr>
          <a:xfrm>
            <a:off x="3514637" y="4143375"/>
            <a:ext cx="3305092" cy="74295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52" name="Text 45"/>
          <p:cNvSpPr/>
          <p:nvPr/>
        </p:nvSpPr>
        <p:spPr>
          <a:xfrm>
            <a:off x="3662172" y="4242891"/>
            <a:ext cx="27688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Registram sinais de</a:t>
            </a:r>
            <a:endParaRPr lang="en-US" sz="1600" dirty="0"/>
          </a:p>
        </p:txBody>
      </p:sp>
      <p:sp>
        <p:nvSpPr>
          <p:cNvPr id="53" name="Text 46"/>
          <p:cNvSpPr/>
          <p:nvPr/>
        </p:nvSpPr>
        <p:spPr>
          <a:xfrm>
            <a:off x="3662172" y="4538166"/>
            <a:ext cx="36121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comportamento recorrente.</a:t>
            </a:r>
            <a:endParaRPr lang="en-US" sz="160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729" y="4143375"/>
            <a:ext cx="4448064" cy="74295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6972225" y="4242891"/>
            <a:ext cx="51114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 descrença dos jogadores enfraquece a</a:t>
            </a:r>
            <a:endParaRPr lang="en-US" sz="1600" dirty="0"/>
          </a:p>
        </p:txBody>
      </p:sp>
      <p:sp>
        <p:nvSpPr>
          <p:cNvPr id="56" name="Text 48"/>
          <p:cNvSpPr/>
          <p:nvPr/>
        </p:nvSpPr>
        <p:spPr>
          <a:xfrm>
            <a:off x="6972225" y="4538166"/>
            <a:ext cx="30082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adesão e a confiança.</a:t>
            </a:r>
            <a:endParaRPr lang="en-US" sz="1600" dirty="0"/>
          </a:p>
        </p:txBody>
      </p:sp>
      <p:sp>
        <p:nvSpPr>
          <p:cNvPr id="57" name="Text 49"/>
          <p:cNvSpPr/>
          <p:nvPr/>
        </p:nvSpPr>
        <p:spPr>
          <a:xfrm>
            <a:off x="609585" y="5626100"/>
            <a:ext cx="1152496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Quase 75% dos jogadores usam as ferramentas de denúncia do próprio jogo. Moderadores precisam de diretrizes mais eficazes, e desenvolvedoras, de ambientes inclusivos com sanções.</a:t>
            </a:r>
            <a:endParaRPr lang="en-US" sz="1250" dirty="0"/>
          </a:p>
        </p:txBody>
      </p:sp>
      <p:sp>
        <p:nvSpPr>
          <p:cNvPr id="58" name="Text 50"/>
          <p:cNvSpPr/>
          <p:nvPr/>
        </p:nvSpPr>
        <p:spPr>
          <a:xfrm>
            <a:off x="609585" y="6096000"/>
            <a:ext cx="803225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E67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Detectar a agressão não garante interromper seus efeitos.</a:t>
            </a:r>
            <a:endParaRPr lang="en-US" sz="20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99045"/>
            <a:ext cx="629348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MITIGAÇÃO · PREVENÇÃO E CUIDADO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563959"/>
            <a:ext cx="719149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Mitigação exige ação técnica e</a:t>
            </a:r>
            <a:endParaRPr lang="en-US" sz="30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psicológica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581150"/>
            <a:ext cx="7162621" cy="1571625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5" name="Shape 3"/>
          <p:cNvSpPr/>
          <p:nvPr/>
        </p:nvSpPr>
        <p:spPr>
          <a:xfrm>
            <a:off x="614248" y="1581150"/>
            <a:ext cx="7153096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6" name="Shape 4"/>
          <p:cNvSpPr/>
          <p:nvPr/>
        </p:nvSpPr>
        <p:spPr>
          <a:xfrm>
            <a:off x="7762681" y="1585813"/>
            <a:ext cx="9525" cy="15621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7" name="Shape 5"/>
          <p:cNvSpPr/>
          <p:nvPr/>
        </p:nvSpPr>
        <p:spPr>
          <a:xfrm>
            <a:off x="614248" y="3143250"/>
            <a:ext cx="7153096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5" y="1585813"/>
            <a:ext cx="9525" cy="1562100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9" name="Text 7"/>
          <p:cNvSpPr/>
          <p:nvPr/>
        </p:nvSpPr>
        <p:spPr>
          <a:xfrm>
            <a:off x="847704" y="1795483"/>
            <a:ext cx="731928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Técnica e design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7704" y="2280503"/>
            <a:ext cx="7319283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Recompensar bom comportamento e desenvolver moderação preditiva,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com revisão de erros.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5" y="3457575"/>
            <a:ext cx="7162621" cy="127635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4248" y="3457575"/>
            <a:ext cx="7153096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62681" y="3462238"/>
            <a:ext cx="9525" cy="12668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14248" y="4724400"/>
            <a:ext cx="7153096" cy="95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3462238"/>
            <a:ext cx="9525" cy="1266825"/>
          </a:xfrm>
          <a:prstGeom prst="rect">
            <a:avLst/>
          </a:prstGeom>
          <a:solidFill>
            <a:srgbClr val="2A2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04" y="3661767"/>
            <a:ext cx="73192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Psicológica e social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7704" y="4149427"/>
            <a:ext cx="79288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Promover conscientização e facilitar o acesso a suporte à saúde mental.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585" y="5038725"/>
            <a:ext cx="7162621" cy="15621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9" name="Shape 17"/>
          <p:cNvSpPr/>
          <p:nvPr/>
        </p:nvSpPr>
        <p:spPr>
          <a:xfrm>
            <a:off x="614248" y="5038725"/>
            <a:ext cx="7153096" cy="9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762681" y="5043388"/>
            <a:ext cx="9525" cy="1552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614248" y="6591300"/>
            <a:ext cx="7153096" cy="95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5" y="5043388"/>
            <a:ext cx="9525" cy="1552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47704" y="5253058"/>
            <a:ext cx="731928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Educação digital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7704" y="5738078"/>
            <a:ext cx="7319283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Construir normas de convivência e orientar as comunidades sobre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denúncia e apoio.</a:t>
            </a:r>
            <a:endParaRPr lang="en-US" sz="16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538" y="0"/>
            <a:ext cx="4071736" cy="685800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3845"/>
            <a:ext cx="106909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SÍNTESE · PAPÉIS COMPLEMENTARES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7748"/>
            <a:ext cx="1152496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Responsabilidade compartilhada muda o ecossistema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356830"/>
            <a:ext cx="10581415" cy="10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200" dirty="0">
                <a:solidFill>
                  <a:srgbClr val="EDEDF2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Toxicidade é problema de saúde,</a:t>
            </a:r>
            <a:endParaRPr lang="en-US" sz="42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4200" dirty="0">
                <a:solidFill>
                  <a:srgbClr val="00E676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não “parte do jogo”.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09585" y="3457575"/>
            <a:ext cx="3457489" cy="18669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3457575"/>
            <a:ext cx="3457489" cy="381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746202"/>
            <a:ext cx="23998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Desenvolvedoras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4248606"/>
            <a:ext cx="384125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Projetar ambientes seguros 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179" y="4528641"/>
            <a:ext cx="28313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oferecer moderação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179" y="4823916"/>
            <a:ext cx="200883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responsável.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71866" y="3457575"/>
            <a:ext cx="3447964" cy="18669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1866" y="3457575"/>
            <a:ext cx="3447964" cy="381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087" y="3746202"/>
            <a:ext cx="14892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Jogadores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7087" y="4233366"/>
            <a:ext cx="36329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Respeitar limites, denunciar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7087" y="4528641"/>
            <a:ext cx="37162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agressões e apoiar pessoas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7087" y="4823916"/>
            <a:ext cx="16338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afetadas.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4622" y="3457575"/>
            <a:ext cx="3457489" cy="1866900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4622" y="3457575"/>
            <a:ext cx="3457489" cy="38100"/>
          </a:xfrm>
          <a:prstGeom prst="rect">
            <a:avLst/>
          </a:prstGeom>
          <a:solidFill>
            <a:srgbClr val="3DE8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56391" y="3746202"/>
            <a:ext cx="20615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Pesquisadores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56391" y="4233366"/>
            <a:ext cx="33519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Avaliar impactos e testar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6391" y="4528641"/>
            <a:ext cx="38353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intervenções com evidências.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6733" y="5562600"/>
            <a:ext cx="92834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E676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 toxicidade é uma barreira real ao bem-estar das comunidades virtuais; é imperativo criar ecossistemas de jogos mais cooperativos, sustentáveis e seguros.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512432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E8E9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FECAP · BANCA EXAMINADORA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8145"/>
            <a:ext cx="567169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DEDF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Referências e perguntas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496542"/>
            <a:ext cx="6719422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ADL · 2023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947293"/>
            <a:ext cx="6719422" cy="337145"/>
          </a:xfrm>
          <a:prstGeom prst="rect">
            <a:avLst/>
          </a:prstGeom>
          <a:noFill/>
          <a:ln/>
        </p:spPr>
        <p:txBody>
          <a:bodyPr wrap="none" lIns="0" tIns="32384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Hate is No Game: Hate and Harassment in Online Games 2023.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758109"/>
            <a:ext cx="6305392" cy="12601"/>
          </a:xfrm>
          <a:prstGeom prst="roundRect">
            <a:avLst>
              <a:gd name="adj" fmla="val 49998"/>
            </a:avLst>
          </a:prstGeom>
          <a:solidFill>
            <a:srgbClr val="2A2A3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581995"/>
            <a:ext cx="331858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ADL · 2021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4022626"/>
            <a:ext cx="3318586" cy="325735"/>
          </a:xfrm>
          <a:prstGeom prst="rect">
            <a:avLst/>
          </a:prstGeom>
          <a:noFill/>
          <a:ln/>
        </p:spPr>
        <p:txBody>
          <a:bodyPr wrap="none" lIns="0" tIns="20954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Hate is No Game 2021.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85" y="4813102"/>
            <a:ext cx="6305392" cy="12601"/>
          </a:xfrm>
          <a:prstGeom prst="roundRect">
            <a:avLst>
              <a:gd name="adj" fmla="val 49998"/>
            </a:avLst>
          </a:prstGeom>
          <a:solidFill>
            <a:srgbClr val="2A2A38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4750256"/>
            <a:ext cx="363220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[Demais autores do TCC]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72166" y="1485702"/>
            <a:ext cx="4209945" cy="4762500"/>
          </a:xfrm>
          <a:prstGeom prst="rect">
            <a:avLst/>
          </a:prstGeom>
          <a:solidFill>
            <a:srgbClr val="14141C"/>
          </a:solidFill>
          <a:ln w="6350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63276" y="3051215"/>
            <a:ext cx="2240303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9D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DISCUSSÃO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63276" y="3208141"/>
            <a:ext cx="3812484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0E67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Perguntas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763276" y="4098290"/>
            <a:ext cx="229616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Obrigado à banca.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C9C9D4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Abertos a perguntas.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2026-10-08T13:39:24Z</dcterms:created>
  <dcterms:modified xsi:type="dcterms:W3CDTF">2026-10-08T13:39:24Z</dcterms:modified>
</cp:coreProperties>
</file>